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chivo Black" charset="1" panose="020B0A03020202020B04"/>
      <p:regular r:id="rId18"/>
    </p:embeddedFont>
    <p:embeddedFont>
      <p:font typeface="Garet Bold" charset="1" panose="00000000000000000000"/>
      <p:regular r:id="rId19"/>
    </p:embeddedFont>
    <p:embeddedFont>
      <p:font typeface="Garet Italics" charset="1" panose="00000000000000000000"/>
      <p:regular r:id="rId20"/>
    </p:embeddedFont>
    <p:embeddedFont>
      <p:font typeface="Garet" charset="1" panose="00000000000000000000"/>
      <p:regular r:id="rId21"/>
    </p:embeddedFont>
    <p:embeddedFont>
      <p:font typeface="Garet Bold Italics" charset="1" panose="0000000000000000000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https://github.com/hijbullahx" TargetMode="External" Type="http://schemas.openxmlformats.org/officeDocument/2006/relationships/hyperlink"/><Relationship Id="rId11" Target="https://github.com/farhida" TargetMode="External" Type="http://schemas.openxmlformats.org/officeDocument/2006/relationships/hyperlink"/><Relationship Id="rId12" Target="https://github.com/whiteshadow-sohag" TargetMode="External" Type="http://schemas.openxmlformats.org/officeDocument/2006/relationships/hyperlink"/><Relationship Id="rId13" Target="https://github.com/r-ony-s" TargetMode="External" Type="http://schemas.openxmlformats.org/officeDocument/2006/relationships/hyperlink"/><Relationship Id="rId14" Target="https://www.linkedin.com/in/farhidah/" TargetMode="External" Type="http://schemas.openxmlformats.org/officeDocument/2006/relationships/hyperlink"/><Relationship Id="rId15" Target="https://www.linkedin.com/in/md-masud-rana-2037592b7/" TargetMode="External" Type="http://schemas.openxmlformats.org/officeDocument/2006/relationships/hyperlink"/><Relationship Id="rId16" Target="https://www.linkedin.com/in/muhammad-rony/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6.jpeg" Type="http://schemas.openxmlformats.org/officeDocument/2006/relationships/image"/><Relationship Id="rId4" Target="../media/image7.jpeg" Type="http://schemas.openxmlformats.org/officeDocument/2006/relationships/image"/><Relationship Id="rId5" Target="../media/image8.png" Type="http://schemas.openxmlformats.org/officeDocument/2006/relationships/image"/><Relationship Id="rId6" Target="../media/image9.jpeg" Type="http://schemas.openxmlformats.org/officeDocument/2006/relationships/image"/><Relationship Id="rId7" Target="../media/image10.png" Type="http://schemas.openxmlformats.org/officeDocument/2006/relationships/image"/><Relationship Id="rId8" Target="../media/image11.svg" Type="http://schemas.openxmlformats.org/officeDocument/2006/relationships/image"/><Relationship Id="rId9" Target="https://www.linkedin.com/in/hijbullah/" TargetMode="External" Type="http://schemas.openxmlformats.org/officeDocument/2006/relationships/hyperlink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sv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9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2.png" Type="http://schemas.openxmlformats.org/officeDocument/2006/relationships/image"/><Relationship Id="rId4" Target="../media/image2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355399" y="8023114"/>
            <a:ext cx="1880002" cy="946837"/>
          </a:xfrm>
          <a:custGeom>
            <a:avLst/>
            <a:gdLst/>
            <a:ahLst/>
            <a:cxnLst/>
            <a:rect r="r" b="b" t="t" l="l"/>
            <a:pathLst>
              <a:path h="946837" w="1880002">
                <a:moveTo>
                  <a:pt x="0" y="0"/>
                </a:moveTo>
                <a:lnTo>
                  <a:pt x="1880002" y="0"/>
                </a:lnTo>
                <a:lnTo>
                  <a:pt x="1880002" y="946837"/>
                </a:lnTo>
                <a:lnTo>
                  <a:pt x="0" y="94683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1028700"/>
            <a:ext cx="797433" cy="707541"/>
          </a:xfrm>
          <a:custGeom>
            <a:avLst/>
            <a:gdLst/>
            <a:ahLst/>
            <a:cxnLst/>
            <a:rect r="r" b="b" t="t" l="l"/>
            <a:pathLst>
              <a:path h="707541" w="797433">
                <a:moveTo>
                  <a:pt x="0" y="0"/>
                </a:moveTo>
                <a:lnTo>
                  <a:pt x="797433" y="0"/>
                </a:lnTo>
                <a:lnTo>
                  <a:pt x="797433" y="707541"/>
                </a:lnTo>
                <a:lnTo>
                  <a:pt x="0" y="70754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8793676" y="5577560"/>
            <a:ext cx="8465624" cy="3513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582"/>
              </a:lnSpc>
              <a:spcBef>
                <a:spcPct val="0"/>
              </a:spcBef>
            </a:pPr>
            <a:r>
              <a:rPr lang="en-US" sz="2582" spc="-20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Making informed decisions, instantly.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6957598"/>
            <a:ext cx="3366096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79"/>
              </a:lnSpc>
              <a:spcBef>
                <a:spcPct val="0"/>
              </a:spcBef>
            </a:pPr>
            <a:r>
              <a:rPr lang="en-US" b="true" sz="2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NAME OF PROJECT: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7535226"/>
            <a:ext cx="7764976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89"/>
              </a:lnSpc>
              <a:spcBef>
                <a:spcPct val="0"/>
              </a:spcBef>
            </a:pPr>
            <a:r>
              <a:rPr lang="en-US" b="true" sz="22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Automatic Service Price &amp; Review Comparison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53393" y="1115211"/>
            <a:ext cx="4321082" cy="621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 b="true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SynthAI Squad </a:t>
            </a:r>
          </a:p>
          <a:p>
            <a:pPr algn="l">
              <a:lnSpc>
                <a:spcPts val="2520"/>
              </a:lnSpc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826133" y="3177005"/>
            <a:ext cx="15409268" cy="2026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7479"/>
              </a:lnSpc>
              <a:spcBef>
                <a:spcPct val="0"/>
              </a:spcBef>
            </a:pPr>
            <a:r>
              <a:rPr lang="en-US" sz="9589" spc="-757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AUTOMATI</a:t>
            </a:r>
            <a:r>
              <a:rPr lang="en-US" sz="9589" spc="-757" u="none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 PRICE &amp; REVIEW COMPARISON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8193545"/>
            <a:ext cx="7213882" cy="10306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2099" b="true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We are SynthAI Squad A team of developers and researchers from IUBAT and  MIU</a:t>
            </a:r>
          </a:p>
          <a:p>
            <a:pPr algn="l" marL="0" indent="0" lvl="0">
              <a:lnSpc>
                <a:spcPts val="272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250509" y="2938298"/>
            <a:ext cx="3261144" cy="3261144"/>
            <a:chOff x="0" y="0"/>
            <a:chExt cx="8790178" cy="879017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3"/>
              <a:stretch>
                <a:fillRect l="-2783" t="0" r="-2783" b="0"/>
              </a:stretch>
            </a:blip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5425788" y="2938298"/>
            <a:ext cx="3261144" cy="3261144"/>
            <a:chOff x="0" y="0"/>
            <a:chExt cx="8790178" cy="879017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4"/>
              <a:stretch>
                <a:fillRect l="-9107" t="0" r="-9107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9" id="9"/>
          <p:cNvGrpSpPr>
            <a:grpSpLocks noChangeAspect="true"/>
          </p:cNvGrpSpPr>
          <p:nvPr/>
        </p:nvGrpSpPr>
        <p:grpSpPr>
          <a:xfrm rot="0">
            <a:off x="9601067" y="2938298"/>
            <a:ext cx="3261144" cy="3261144"/>
            <a:chOff x="0" y="0"/>
            <a:chExt cx="8790178" cy="879017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776346" y="2938298"/>
            <a:ext cx="3261144" cy="3261144"/>
            <a:chOff x="0" y="0"/>
            <a:chExt cx="8790178" cy="879017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149225" y="149225"/>
              <a:ext cx="8491728" cy="8491728"/>
            </a:xfrm>
            <a:custGeom>
              <a:avLst/>
              <a:gdLst/>
              <a:ahLst/>
              <a:cxnLst/>
              <a:rect r="r" b="b" t="t" l="l"/>
              <a:pathLst>
                <a:path h="8491728" w="8491728">
                  <a:moveTo>
                    <a:pt x="0" y="0"/>
                  </a:moveTo>
                  <a:lnTo>
                    <a:pt x="8491728" y="0"/>
                  </a:lnTo>
                  <a:lnTo>
                    <a:pt x="8491728" y="8491728"/>
                  </a:lnTo>
                  <a:lnTo>
                    <a:pt x="0" y="8491728"/>
                  </a:lnTo>
                  <a:close/>
                </a:path>
              </a:pathLst>
            </a:custGeom>
            <a:blipFill>
              <a:blip r:embed="rId6"/>
              <a:stretch>
                <a:fillRect l="-366" t="0" r="-366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90178" cy="8790178"/>
            </a:xfrm>
            <a:custGeom>
              <a:avLst/>
              <a:gdLst/>
              <a:ahLst/>
              <a:cxnLst/>
              <a:rect r="r" b="b" t="t" l="l"/>
              <a:pathLst>
                <a:path h="8790178" w="8790178">
                  <a:moveTo>
                    <a:pt x="8790178" y="8790178"/>
                  </a:moveTo>
                  <a:lnTo>
                    <a:pt x="0" y="8790178"/>
                  </a:lnTo>
                  <a:lnTo>
                    <a:pt x="0" y="0"/>
                  </a:lnTo>
                  <a:lnTo>
                    <a:pt x="8790178" y="0"/>
                  </a:lnTo>
                  <a:lnTo>
                    <a:pt x="8790178" y="8790178"/>
                  </a:lnTo>
                  <a:close/>
                  <a:moveTo>
                    <a:pt x="19050" y="8771128"/>
                  </a:moveTo>
                  <a:lnTo>
                    <a:pt x="8771128" y="8771128"/>
                  </a:lnTo>
                  <a:lnTo>
                    <a:pt x="8771128" y="19050"/>
                  </a:lnTo>
                  <a:lnTo>
                    <a:pt x="19050" y="19050"/>
                  </a:lnTo>
                  <a:lnTo>
                    <a:pt x="19050" y="8771128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2644449" y="8245989"/>
            <a:ext cx="13150529" cy="623129"/>
            <a:chOff x="0" y="0"/>
            <a:chExt cx="17534039" cy="83083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32923" cy="830838"/>
            </a:xfrm>
            <a:custGeom>
              <a:avLst/>
              <a:gdLst/>
              <a:ahLst/>
              <a:cxnLst/>
              <a:rect r="r" b="b" t="t" l="l"/>
              <a:pathLst>
                <a:path h="830838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830838"/>
                  </a:lnTo>
                  <a:lnTo>
                    <a:pt x="0" y="83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17870" t="0" r="0" b="-122462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5567039" y="0"/>
              <a:ext cx="832923" cy="830838"/>
            </a:xfrm>
            <a:custGeom>
              <a:avLst/>
              <a:gdLst/>
              <a:ahLst/>
              <a:cxnLst/>
              <a:rect r="r" b="b" t="t" l="l"/>
              <a:pathLst>
                <a:path h="830838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830838"/>
                  </a:lnTo>
                  <a:lnTo>
                    <a:pt x="0" y="83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17870" t="0" r="0" b="-12246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1134077" y="0"/>
              <a:ext cx="832923" cy="830838"/>
            </a:xfrm>
            <a:custGeom>
              <a:avLst/>
              <a:gdLst/>
              <a:ahLst/>
              <a:cxnLst/>
              <a:rect r="r" b="b" t="t" l="l"/>
              <a:pathLst>
                <a:path h="830838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830838"/>
                  </a:lnTo>
                  <a:lnTo>
                    <a:pt x="0" y="83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17870" t="0" r="0" b="-122462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6701116" y="0"/>
              <a:ext cx="832923" cy="830838"/>
            </a:xfrm>
            <a:custGeom>
              <a:avLst/>
              <a:gdLst/>
              <a:ahLst/>
              <a:cxnLst/>
              <a:rect r="r" b="b" t="t" l="l"/>
              <a:pathLst>
                <a:path h="830838" w="832923">
                  <a:moveTo>
                    <a:pt x="0" y="0"/>
                  </a:moveTo>
                  <a:lnTo>
                    <a:pt x="832923" y="0"/>
                  </a:lnTo>
                  <a:lnTo>
                    <a:pt x="832923" y="830838"/>
                  </a:lnTo>
                  <a:lnTo>
                    <a:pt x="0" y="8308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-117870" t="0" r="0" b="-122462"/>
              </a:stretch>
            </a:blipFill>
          </p:spPr>
        </p:sp>
      </p:grpSp>
      <p:grpSp>
        <p:nvGrpSpPr>
          <p:cNvPr name="Group 20" id="20"/>
          <p:cNvGrpSpPr/>
          <p:nvPr/>
        </p:nvGrpSpPr>
        <p:grpSpPr>
          <a:xfrm rot="0">
            <a:off x="-585133" y="9011993"/>
            <a:ext cx="18873133" cy="538166"/>
            <a:chOff x="0" y="0"/>
            <a:chExt cx="25164177" cy="717555"/>
          </a:xfrm>
        </p:grpSpPr>
        <p:sp>
          <p:nvSpPr>
            <p:cNvPr name="AutoShape 21" id="21"/>
            <p:cNvSpPr/>
            <p:nvPr/>
          </p:nvSpPr>
          <p:spPr>
            <a:xfrm rot="0">
              <a:off x="0" y="0"/>
              <a:ext cx="25164177" cy="0"/>
            </a:xfrm>
            <a:prstGeom prst="line">
              <a:avLst/>
            </a:prstGeom>
            <a:ln cap="rnd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22" id="22"/>
            <p:cNvSpPr/>
            <p:nvPr/>
          </p:nvSpPr>
          <p:spPr>
            <a:xfrm rot="0">
              <a:off x="0" y="704855"/>
              <a:ext cx="25164177" cy="0"/>
            </a:xfrm>
            <a:prstGeom prst="line">
              <a:avLst/>
            </a:prstGeom>
            <a:ln cap="rnd" w="127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3" id="23"/>
            <p:cNvSpPr txBox="true"/>
            <p:nvPr/>
          </p:nvSpPr>
          <p:spPr>
            <a:xfrm rot="0">
              <a:off x="8796898" y="119999"/>
              <a:ext cx="8350558" cy="47176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941"/>
                </a:lnSpc>
              </a:pPr>
              <a:r>
                <a:rPr lang="en-US" sz="2101" i="true">
                  <a:solidFill>
                    <a:srgbClr val="000000"/>
                  </a:solidFill>
                  <a:latin typeface="Garet Italics"/>
                  <a:ea typeface="Garet Italics"/>
                  <a:cs typeface="Garet Italics"/>
                  <a:sym typeface="Garet Italics"/>
                </a:rPr>
                <a:t>IUBAT × Manarat International University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4846934" y="1283018"/>
            <a:ext cx="874556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Are SynthAI Squad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02/12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15229" y="6547601"/>
            <a:ext cx="393170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Md. Taher Bin Omar Hijbullah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968721" y="6547601"/>
            <a:ext cx="4175279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Farhida Islam Toushi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250509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Project Lead &amp; Backend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425788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NLP &amp; Data Science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174347" y="6547601"/>
            <a:ext cx="411458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Md. Masud Rana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01067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Web Scraping &amp; DevOps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380106" y="6547601"/>
            <a:ext cx="4053624" cy="33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94"/>
              </a:lnSpc>
            </a:pPr>
            <a:r>
              <a:rPr lang="en-US" b="true" sz="1996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Md. Rony Mia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3776346" y="7033397"/>
            <a:ext cx="3261144" cy="315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1"/>
              </a:lnSpc>
            </a:pPr>
            <a:r>
              <a:rPr lang="en-US" sz="190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Frontend &amp; UI/UX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907406" y="7429217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9" tooltip="https://www.linkedin.com/in/hijbullah/"/>
              </a:rPr>
              <a:t>https://www.linkedin.com/in/hijbullah/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07406" y="7768260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0" tooltip="https://github.com/hijbullahx"/>
              </a:rPr>
              <a:t>https://github.com/hijbullahx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086597" y="7703506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1" tooltip="https://github.com/farhida"/>
              </a:rPr>
              <a:t>https://github.com/farhida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254724" y="7730424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2" tooltip="https://github.com/whiteshadow-sohag"/>
              </a:rPr>
              <a:t>https://github.com/whiteshadow-sohag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437155" y="7703506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3" tooltip="https://github.com/r-ony-s"/>
              </a:rPr>
              <a:t>https://github.com/r-ony-s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5086597" y="7402161"/>
            <a:ext cx="3939527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4" tooltip="https://www.linkedin.com/in/farhidah/"/>
              </a:rPr>
              <a:t>https://www.linkedin.com/in/farhidah/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254724" y="7377396"/>
            <a:ext cx="3939527" cy="3720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41"/>
              </a:lnSpc>
            </a:pPr>
            <a:r>
              <a:rPr lang="en-US" sz="11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5" tooltip="https://www.linkedin.com/in/md-masud-rana-2037592b7/"/>
              </a:rPr>
              <a:t>https://www.linkedin.com/in/md-masud-rana-2037592b7/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151633" y="7377396"/>
            <a:ext cx="4510571" cy="198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81"/>
              </a:lnSpc>
            </a:pPr>
            <a:r>
              <a:rPr lang="en-US" sz="1201" u="sng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  <a:hlinkClick r:id="rId16" tooltip="https://www.linkedin.com/in/muhammad-rony/"/>
              </a:rPr>
              <a:t>https://www.linkedin.com/in/muhammad-rony/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706637" y="1559650"/>
            <a:ext cx="9125543" cy="7167700"/>
          </a:xfrm>
          <a:custGeom>
            <a:avLst/>
            <a:gdLst/>
            <a:ahLst/>
            <a:cxnLst/>
            <a:rect r="r" b="b" t="t" l="l"/>
            <a:pathLst>
              <a:path h="7167700" w="9125543">
                <a:moveTo>
                  <a:pt x="0" y="0"/>
                </a:moveTo>
                <a:lnTo>
                  <a:pt x="9125544" y="0"/>
                </a:lnTo>
                <a:lnTo>
                  <a:pt x="9125544" y="7167700"/>
                </a:lnTo>
                <a:lnTo>
                  <a:pt x="0" y="71677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401433" y="2399338"/>
            <a:ext cx="7017474" cy="1366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258"/>
              </a:lnSpc>
            </a:pPr>
            <a:r>
              <a:rPr lang="en-US" sz="5258" spc="-415">
                <a:solidFill>
                  <a:srgbClr val="FFFFFF"/>
                </a:solidFill>
                <a:latin typeface="Archivo Black"/>
                <a:ea typeface="Archivo Black"/>
                <a:cs typeface="Archivo Black"/>
                <a:sym typeface="Archivo Black"/>
              </a:rPr>
              <a:t>The Comparison Trap</a:t>
            </a:r>
          </a:p>
          <a:p>
            <a:pPr algn="just" marL="0" indent="0" lvl="0">
              <a:lnSpc>
                <a:spcPts val="525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9082484" y="2592645"/>
            <a:ext cx="7473220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Finding the best local service is frustrating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56281" y="3177480"/>
            <a:ext cx="6074874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Manual &amp; Slow 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Browse 10+ websites to find prices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56281" y="4135310"/>
            <a:ext cx="6074874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Dozens of Tabs Copy-paste contact info and rates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56281" y="5091621"/>
            <a:ext cx="6074874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50+ Reviews 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Hard to know who to trust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656281" y="6047931"/>
            <a:ext cx="7603019" cy="789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Wasted Time &amp; Money</a:t>
            </a:r>
          </a:p>
          <a:p>
            <a:pPr algn="just">
              <a:lnSpc>
                <a:spcPts val="3219"/>
              </a:lnSpc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poor decisions, overppaying, bad experiences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6281" y="7004241"/>
            <a:ext cx="7165247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96567" indent="-248284" lvl="1">
              <a:lnSpc>
                <a:spcPts val="321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No one has time for this.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03/12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28700" y="2502497"/>
            <a:ext cx="7717961" cy="6350515"/>
          </a:xfrm>
          <a:custGeom>
            <a:avLst/>
            <a:gdLst/>
            <a:ahLst/>
            <a:cxnLst/>
            <a:rect r="r" b="b" t="t" l="l"/>
            <a:pathLst>
              <a:path h="6350515" w="7717961">
                <a:moveTo>
                  <a:pt x="0" y="0"/>
                </a:moveTo>
                <a:lnTo>
                  <a:pt x="7717961" y="0"/>
                </a:lnTo>
                <a:lnTo>
                  <a:pt x="7717961" y="6350514"/>
                </a:lnTo>
                <a:lnTo>
                  <a:pt x="0" y="63505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750" t="0" r="-1175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346917" y="4306654"/>
            <a:ext cx="2683514" cy="705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258"/>
              </a:lnSpc>
              <a:spcBef>
                <a:spcPct val="0"/>
              </a:spcBef>
            </a:pPr>
            <a:r>
              <a:rPr lang="en-US" sz="5258" spc="-41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Market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404239" y="2788707"/>
            <a:ext cx="7603019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Target Audience: Busy urban professionals, students, and families in Bangladesh who value time and trust.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118315" y="1123950"/>
            <a:ext cx="12051370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Large &amp; Growing Digital Market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404239" y="6810162"/>
            <a:ext cx="7603019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74978" indent="-237489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Gap: There is no single tool that automates this trust-checking process.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404239" y="4126017"/>
            <a:ext cx="7603019" cy="1480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Market Size (Services): The local digital service &amp; consumer goods market is exploding. The e-commerce market alone is projected to hit $10.5 Billion by 2026.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4239" y="5834802"/>
            <a:ext cx="7603019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Key Trend: 4 in 10 Bangladeshi online shoppers state that online reviews are crucial to their decision.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04/12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1028700" y="5438127"/>
            <a:ext cx="13838306" cy="0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5074698" y="4240005"/>
            <a:ext cx="1629446" cy="2396244"/>
          </a:xfrm>
          <a:custGeom>
            <a:avLst/>
            <a:gdLst/>
            <a:ahLst/>
            <a:cxnLst/>
            <a:rect r="r" b="b" t="t" l="l"/>
            <a:pathLst>
              <a:path h="2396244" w="1629446">
                <a:moveTo>
                  <a:pt x="0" y="0"/>
                </a:moveTo>
                <a:lnTo>
                  <a:pt x="1629446" y="0"/>
                </a:lnTo>
                <a:lnTo>
                  <a:pt x="1629446" y="2396244"/>
                </a:lnTo>
                <a:lnTo>
                  <a:pt x="0" y="239624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7501103" cy="1519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08"/>
              </a:lnSpc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One Search</a:t>
            </a:r>
          </a:p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All The Answers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05/12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6466703"/>
            <a:ext cx="13104348" cy="406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249"/>
              </a:lnSpc>
              <a:spcBef>
                <a:spcPct val="0"/>
              </a:spcBef>
            </a:pPr>
            <a:r>
              <a:rPr lang="en-US" b="true" sz="24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[Messy browser tabs]   →   [SynthAI Icon]   →   [Clean comparison table]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1028700" y="5247751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6331496" y="5247751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755434" y="5247751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3" y="0"/>
                </a:lnTo>
                <a:lnTo>
                  <a:pt x="380753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028700" y="3065526"/>
            <a:ext cx="7346899" cy="1314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3"/>
              </a:lnSpc>
              <a:spcBef>
                <a:spcPct val="0"/>
              </a:spcBef>
            </a:pPr>
            <a:r>
              <a:rPr lang="en-US" sz="24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built an AI-powered platform that automatica</a:t>
            </a:r>
            <a:r>
              <a:rPr lang="en-US" sz="2416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lly gathers, analyzes, and compares service data — so you don’t have to.</a:t>
            </a:r>
          </a:p>
          <a:p>
            <a:pPr algn="l" marL="0" indent="0" lvl="0">
              <a:lnSpc>
                <a:spcPts val="87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7425553"/>
            <a:ext cx="7346899" cy="455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83"/>
              </a:lnSpc>
              <a:spcBef>
                <a:spcPct val="0"/>
              </a:spcBef>
            </a:pPr>
            <a:r>
              <a:rPr lang="en-US" sz="2416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From chaos to c</a:t>
            </a:r>
            <a:r>
              <a:rPr lang="en-US" sz="2416" u="none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larity in 10 seconds.</a:t>
            </a:r>
          </a:p>
          <a:p>
            <a:pPr algn="l" marL="0" indent="0" lvl="0">
              <a:lnSpc>
                <a:spcPts val="8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43434" y="0"/>
            <a:ext cx="7201132" cy="10287000"/>
            <a:chOff x="0" y="0"/>
            <a:chExt cx="9601509" cy="13716000"/>
          </a:xfrm>
        </p:grpSpPr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2079" r="0" b="2079"/>
            <a:stretch>
              <a:fillRect/>
            </a:stretch>
          </p:blipFill>
          <p:spPr>
            <a:xfrm flipH="false" flipV="false">
              <a:off x="0" y="0"/>
              <a:ext cx="9601509" cy="13716000"/>
            </a:xfrm>
            <a:prstGeom prst="rect">
              <a:avLst/>
            </a:prstGeom>
          </p:spPr>
        </p:pic>
      </p:grpSp>
      <p:sp>
        <p:nvSpPr>
          <p:cNvPr name="TextBox 5" id="5"/>
          <p:cNvSpPr txBox="true"/>
          <p:nvPr/>
        </p:nvSpPr>
        <p:spPr>
          <a:xfrm rot="0">
            <a:off x="1767601" y="4489450"/>
            <a:ext cx="3120902" cy="1749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SpaCy NLP reads every review </a:t>
            </a:r>
          </a:p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→ Classifies sentiment: Positive / Negative / Neutral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4134" y="4073525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767601" y="1129691"/>
            <a:ext cx="31209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Gather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129691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142821" y="2632657"/>
            <a:ext cx="4116479" cy="1446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581"/>
              </a:lnSpc>
            </a:pPr>
            <a:r>
              <a:rPr lang="en-US" sz="5581" spc="-44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3-Step</a:t>
            </a:r>
          </a:p>
          <a:p>
            <a:pPr algn="r" marL="0" indent="0" lvl="0">
              <a:lnSpc>
                <a:spcPts val="5581"/>
              </a:lnSpc>
              <a:spcBef>
                <a:spcPct val="0"/>
              </a:spcBef>
            </a:pPr>
            <a:r>
              <a:rPr lang="en-US" sz="5581" spc="-44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AI Pipeline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06/12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59569" y="7017359"/>
            <a:ext cx="467670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36732" y="7017359"/>
            <a:ext cx="31209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Compare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767601" y="1541471"/>
            <a:ext cx="3120902" cy="2101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Smart web scrapers fetch price, reviews, and contact from Bikroy, Facebook, Sheba.xyz, and more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767601" y="4073525"/>
            <a:ext cx="3120902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Analyze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736732" y="7433284"/>
            <a:ext cx="3120902" cy="139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Clean, ranked table by price, rating, and AI insights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028700" y="8906484"/>
            <a:ext cx="3859803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Fully automated. No human in the loop.</a:t>
            </a:r>
          </a:p>
          <a:p>
            <a:pPr algn="l">
              <a:lnSpc>
                <a:spcPts val="280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12782771" y="4437103"/>
            <a:ext cx="4476529" cy="64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4"/>
              </a:lnSpc>
              <a:spcBef>
                <a:spcPct val="0"/>
              </a:spcBef>
            </a:pPr>
            <a:r>
              <a:rPr lang="en-US" b="true" sz="196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Tech Stack :</a:t>
            </a:r>
            <a:r>
              <a:rPr lang="en-US" sz="19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r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(Add this in a small box on the side)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427795" y="7591928"/>
            <a:ext cx="2831505" cy="64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4"/>
              </a:lnSpc>
              <a:spcBef>
                <a:spcPct val="0"/>
              </a:spcBef>
            </a:pPr>
            <a:r>
              <a:rPr lang="en-US" b="true" sz="196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Frontend :</a:t>
            </a:r>
          </a:p>
          <a:p>
            <a:pPr algn="r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HTML, Bootstrap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782771" y="5223458"/>
            <a:ext cx="4476529" cy="64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4"/>
              </a:lnSpc>
              <a:spcBef>
                <a:spcPct val="0"/>
              </a:spcBef>
            </a:pPr>
            <a:r>
              <a:rPr lang="en-US" b="true" sz="196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AI :</a:t>
            </a:r>
            <a:r>
              <a:rPr lang="en-US" sz="19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</a:t>
            </a:r>
          </a:p>
          <a:p>
            <a:pPr algn="r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Sp</a:t>
            </a: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aCy, SpacyTextBlob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782771" y="6012948"/>
            <a:ext cx="4476529" cy="64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4"/>
              </a:lnSpc>
              <a:spcBef>
                <a:spcPct val="0"/>
              </a:spcBef>
            </a:pPr>
            <a:r>
              <a:rPr lang="en-US" b="true" sz="196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Backend :</a:t>
            </a:r>
          </a:p>
          <a:p>
            <a:pPr algn="r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</a:t>
            </a: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ython, Flask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782771" y="6802438"/>
            <a:ext cx="4476529" cy="646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754"/>
              </a:lnSpc>
            </a:pPr>
            <a:r>
              <a:rPr lang="en-US" sz="1967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Data :</a:t>
            </a:r>
          </a:p>
          <a:p>
            <a:pPr algn="r">
              <a:lnSpc>
                <a:spcPts val="2614"/>
              </a:lnSpc>
              <a:spcBef>
                <a:spcPct val="0"/>
              </a:spcBef>
            </a:pP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Pa</a:t>
            </a:r>
            <a:r>
              <a:rPr lang="en-US" sz="186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ndas, BeautifulSoup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4577" y="3445323"/>
            <a:ext cx="4970749" cy="4314844"/>
            <a:chOff x="0" y="0"/>
            <a:chExt cx="10899140" cy="946096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899140" cy="9460966"/>
            </a:xfrm>
            <a:custGeom>
              <a:avLst/>
              <a:gdLst/>
              <a:ahLst/>
              <a:cxnLst/>
              <a:rect r="r" b="b" t="t" l="l"/>
              <a:pathLst>
                <a:path h="9460966" w="10899140">
                  <a:moveTo>
                    <a:pt x="10314940" y="0"/>
                  </a:moveTo>
                  <a:lnTo>
                    <a:pt x="584200" y="0"/>
                  </a:lnTo>
                  <a:cubicBezTo>
                    <a:pt x="584200" y="480617"/>
                    <a:pt x="322580" y="870409"/>
                    <a:pt x="0" y="870409"/>
                  </a:cubicBezTo>
                  <a:lnTo>
                    <a:pt x="0" y="8590557"/>
                  </a:lnTo>
                  <a:cubicBezTo>
                    <a:pt x="322580" y="8590557"/>
                    <a:pt x="584200" y="8980349"/>
                    <a:pt x="584200" y="9460966"/>
                  </a:cubicBezTo>
                  <a:lnTo>
                    <a:pt x="10314940" y="9460966"/>
                  </a:lnTo>
                  <a:cubicBezTo>
                    <a:pt x="10314940" y="8980349"/>
                    <a:pt x="10576560" y="8590557"/>
                    <a:pt x="10899140" y="8590557"/>
                  </a:cubicBezTo>
                  <a:lnTo>
                    <a:pt x="10899140" y="870409"/>
                  </a:lnTo>
                  <a:cubicBezTo>
                    <a:pt x="10576560" y="870409"/>
                    <a:pt x="10314940" y="480617"/>
                    <a:pt x="10314940" y="0"/>
                  </a:cubicBezTo>
                  <a:close/>
                </a:path>
              </a:pathLst>
            </a:custGeom>
            <a:blipFill>
              <a:blip r:embed="rId3"/>
              <a:stretch>
                <a:fillRect l="-1557" t="0" r="-1557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7068764" y="1442085"/>
            <a:ext cx="415047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LIVE DEMO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07/12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6013603" y="3397698"/>
            <a:ext cx="626332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Watch this →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013603" y="4193073"/>
            <a:ext cx="6263321" cy="1387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Open: http://127.0.0.1:5000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Type: "Home Cleaning" + "Dhaka"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Click: Compare Services</a:t>
            </a:r>
          </a:p>
          <a:p>
            <a:pPr algn="just" marL="431799" indent="-215899" lvl="1">
              <a:lnSpc>
                <a:spcPts val="2799"/>
              </a:lnSpc>
              <a:buAutoNum type="arabicPeriod" startAt="1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See AI-powered results in &lt; 10 seconds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49346" y="6218723"/>
            <a:ext cx="6391835" cy="2067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1"/>
              </a:lnSpc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Point out :</a:t>
            </a:r>
          </a:p>
          <a:p>
            <a:pPr algn="just" marL="431799" indent="-215899" lvl="1">
              <a:lnSpc>
                <a:spcPts val="347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Prices in BDT</a:t>
            </a:r>
          </a:p>
          <a:p>
            <a:pPr algn="just" marL="431799" indent="-215899" lvl="1">
              <a:lnSpc>
                <a:spcPts val="23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Star ratings</a:t>
            </a:r>
          </a:p>
          <a:p>
            <a:pPr algn="just" marL="431799" indent="-215899" lvl="1">
              <a:lnSpc>
                <a:spcPts val="365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Colored Sentiment Badges (Green = Positive)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12562674" y="3234815"/>
            <a:ext cx="4970749" cy="4735861"/>
            <a:chOff x="0" y="0"/>
            <a:chExt cx="10899140" cy="103841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899140" cy="10384111"/>
            </a:xfrm>
            <a:custGeom>
              <a:avLst/>
              <a:gdLst/>
              <a:ahLst/>
              <a:cxnLst/>
              <a:rect r="r" b="b" t="t" l="l"/>
              <a:pathLst>
                <a:path h="10384111" w="10899140">
                  <a:moveTo>
                    <a:pt x="10314940" y="0"/>
                  </a:moveTo>
                  <a:lnTo>
                    <a:pt x="584200" y="0"/>
                  </a:lnTo>
                  <a:cubicBezTo>
                    <a:pt x="584200" y="527513"/>
                    <a:pt x="322580" y="955338"/>
                    <a:pt x="0" y="955338"/>
                  </a:cubicBezTo>
                  <a:lnTo>
                    <a:pt x="0" y="9428773"/>
                  </a:lnTo>
                  <a:cubicBezTo>
                    <a:pt x="322580" y="9428773"/>
                    <a:pt x="584200" y="9856598"/>
                    <a:pt x="584200" y="10384111"/>
                  </a:cubicBezTo>
                  <a:lnTo>
                    <a:pt x="10314940" y="10384111"/>
                  </a:lnTo>
                  <a:cubicBezTo>
                    <a:pt x="10314940" y="9856598"/>
                    <a:pt x="10576560" y="9428773"/>
                    <a:pt x="10899140" y="9428773"/>
                  </a:cubicBezTo>
                  <a:lnTo>
                    <a:pt x="10899140" y="955338"/>
                  </a:lnTo>
                  <a:cubicBezTo>
                    <a:pt x="10576560" y="955338"/>
                    <a:pt x="10314940" y="527513"/>
                    <a:pt x="10314940" y="0"/>
                  </a:cubicBezTo>
                  <a:close/>
                </a:path>
              </a:pathLst>
            </a:custGeom>
            <a:blipFill>
              <a:blip r:embed="rId4"/>
              <a:stretch>
                <a:fillRect l="-192" t="0" r="-192" b="0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713932" y="1283018"/>
            <a:ext cx="13989592" cy="1435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08"/>
              </a:lnSpc>
            </a:pPr>
            <a:r>
              <a:rPr lang="en-US" sz="5508" spc="-43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Don't Just Compare Price</a:t>
            </a:r>
          </a:p>
          <a:p>
            <a:pPr algn="ctr" marL="0" indent="0" lvl="0">
              <a:lnSpc>
                <a:spcPts val="5508"/>
              </a:lnSpc>
              <a:spcBef>
                <a:spcPct val="0"/>
              </a:spcBef>
            </a:pPr>
            <a:r>
              <a:rPr lang="en-US" sz="5508" spc="-435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We Compare Trust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08/12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901363" y="3629940"/>
            <a:ext cx="6263321" cy="389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219"/>
              </a:lnSpc>
              <a:spcBef>
                <a:spcPct val="0"/>
              </a:spcBef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Competitors (e.g., Bikroy, Facebook) →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01363" y="4406265"/>
            <a:ext cx="8727936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AutoNum type="arabicPeriod" startAt="1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They are just LISTS.</a:t>
            </a:r>
          </a:p>
          <a:p>
            <a:pPr algn="l" marL="453388" indent="-226694" lvl="1">
              <a:lnSpc>
                <a:spcPts val="2939"/>
              </a:lnSpc>
              <a:buAutoNum type="arabicPeriod" startAt="1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The user still has to do all the work of reading 50+ reviews.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1363" y="5838111"/>
            <a:ext cx="14485274" cy="2724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01"/>
              </a:lnSpc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AI Advantage (UVP):</a:t>
            </a:r>
          </a:p>
          <a:p>
            <a:pPr algn="just" marL="431799" indent="-215899" lvl="1">
              <a:lnSpc>
                <a:spcPts val="347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a</a:t>
            </a: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 an ANALYZER.</a:t>
            </a:r>
          </a:p>
          <a:p>
            <a:pPr algn="just" marL="431799" indent="-215899" lvl="1">
              <a:lnSpc>
                <a:spcPts val="3479"/>
              </a:lnSpc>
              <a:buFont typeface="Arial"/>
              <a:buChar char="•"/>
            </a:pP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</a:t>
            </a: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 NLP model is the </a:t>
            </a:r>
            <a:r>
              <a:rPr lang="en-US" sz="19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only tool that reads all the reviews for the user.</a:t>
            </a:r>
          </a:p>
          <a:p>
            <a:pPr algn="l" marL="474978" indent="-237489" lvl="1">
              <a:lnSpc>
                <a:spcPts val="3827"/>
              </a:lnSpc>
              <a:buFont typeface="Arial"/>
              <a:buChar char="•"/>
            </a:pPr>
            <a:r>
              <a:rPr lang="en-US" sz="21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Benefit: We save users hours of research and give them the confidence to make a decision in minutes.</a:t>
            </a:r>
          </a:p>
          <a:p>
            <a:pPr algn="just">
              <a:lnSpc>
                <a:spcPts val="2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948310" y="1028700"/>
            <a:ext cx="12391381" cy="1095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Clear Path to Revenue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134074"/>
            <a:ext cx="98226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have a 3-phase monetization strategy: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320515" y="4984976"/>
            <a:ext cx="3847494" cy="2105629"/>
          </a:xfrm>
          <a:custGeom>
            <a:avLst/>
            <a:gdLst/>
            <a:ahLst/>
            <a:cxnLst/>
            <a:rect r="r" b="b" t="t" l="l"/>
            <a:pathLst>
              <a:path h="2105629" w="3847494">
                <a:moveTo>
                  <a:pt x="0" y="0"/>
                </a:moveTo>
                <a:lnTo>
                  <a:pt x="3847494" y="0"/>
                </a:lnTo>
                <a:lnTo>
                  <a:pt x="3847494" y="2105629"/>
                </a:lnTo>
                <a:lnTo>
                  <a:pt x="0" y="21056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028700" y="3702879"/>
            <a:ext cx="98226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Phase 1: Affiliate Links (Services &amp; E-commerce)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273744"/>
            <a:ext cx="9822602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 small commission when a user books a service or buys a product (from Daraz, etc.) through our link.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5216084"/>
            <a:ext cx="98226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Phase 2: Premium Listings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786949"/>
            <a:ext cx="9822602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Businesses can pay a flat fee to be "featured" at the top of relevant search results.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729290"/>
            <a:ext cx="9822602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Phase 3: B2B Data API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300155"/>
            <a:ext cx="9822602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Sell anonymized market trend data to businesses and researchers.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09/12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47891" y="1028700"/>
            <a:ext cx="16192218" cy="2190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640"/>
              </a:lnSpc>
            </a:pPr>
            <a:r>
              <a:rPr lang="en-US" sz="7200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Reaching Our First 10,000 Users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16281" y="3664990"/>
            <a:ext cx="7664150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Our launch strategy is targeted and low-cost.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12320515" y="5214636"/>
            <a:ext cx="3847494" cy="2105629"/>
          </a:xfrm>
          <a:custGeom>
            <a:avLst/>
            <a:gdLst/>
            <a:ahLst/>
            <a:cxnLst/>
            <a:rect r="r" b="b" t="t" l="l"/>
            <a:pathLst>
              <a:path h="2105629" w="3847494">
                <a:moveTo>
                  <a:pt x="0" y="0"/>
                </a:moveTo>
                <a:lnTo>
                  <a:pt x="3847494" y="0"/>
                </a:lnTo>
                <a:lnTo>
                  <a:pt x="3847494" y="2105629"/>
                </a:lnTo>
                <a:lnTo>
                  <a:pt x="0" y="210562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216281" y="4358871"/>
            <a:ext cx="7664150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1 :</a:t>
            </a: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Guerilla Marketing (Community)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16281" y="4824961"/>
            <a:ext cx="9424590" cy="1104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Target Bangladeshi university, apartment, and community Facebook/WhatsApp groups where people ask for service recommendations.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16281" y="6191163"/>
            <a:ext cx="7664150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2 : </a:t>
            </a: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Content &amp; SEO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16281" y="6657253"/>
            <a:ext cx="9424590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Write blog posts like “</a:t>
            </a:r>
            <a:r>
              <a:rPr lang="en-US" sz="22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Top 5 Cleaning Services in Dhaka”</a:t>
            </a: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that drive organic search traffic directly to our tool.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35472" y="7651981"/>
            <a:ext cx="7664150" cy="3613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2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Phase 3 :</a:t>
            </a: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Student-led Partnerships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216281" y="8118071"/>
            <a:ext cx="9443781" cy="7327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6569" indent="-248284" lvl="1">
              <a:lnSpc>
                <a:spcPts val="2989"/>
              </a:lnSpc>
              <a:spcBef>
                <a:spcPct val="0"/>
              </a:spcBef>
              <a:buFont typeface="Arial"/>
              <a:buChar char="•"/>
            </a:pPr>
            <a:r>
              <a:rPr lang="en-US" sz="22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“For-student, by-student”</a:t>
            </a:r>
            <a:r>
              <a:rPr lang="en-US" b="true" sz="2299" i="true">
                <a:solidFill>
                  <a:srgbClr val="000000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</a:t>
            </a:r>
            <a:r>
              <a:rPr lang="en-US" sz="22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campaigns at IUBAT, MIU, and other universities.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19027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10/12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149204" y="1123950"/>
            <a:ext cx="13989592" cy="7977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08"/>
              </a:lnSpc>
              <a:spcBef>
                <a:spcPct val="0"/>
              </a:spcBef>
            </a:pPr>
            <a:r>
              <a:rPr lang="en-US" sz="5908" spc="-46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Our Roadmap &amp; What We Need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11/12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291947" y="2915309"/>
            <a:ext cx="10476193" cy="4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189"/>
              </a:lnSpc>
              <a:spcBef>
                <a:spcPct val="0"/>
              </a:spcBef>
            </a:pPr>
            <a:r>
              <a:rPr lang="en-US" b="true" sz="240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Next Steps: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91947" y="3718515"/>
            <a:ext cx="10476193" cy="90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688" indent="-238344" lvl="1">
              <a:lnSpc>
                <a:spcPts val="3841"/>
              </a:lnSpc>
              <a:buFont typeface="Arial"/>
              <a:buChar char="•"/>
            </a:pPr>
            <a:r>
              <a:rPr lang="en-US" b="true" sz="220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v1.0 (Now) :</a:t>
            </a:r>
          </a:p>
          <a:p>
            <a:pPr algn="l">
              <a:lnSpc>
                <a:spcPts val="3667"/>
              </a:lnSpc>
              <a:spcBef>
                <a:spcPct val="0"/>
              </a:spcBef>
            </a:pP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</a:t>
            </a: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Complete prototype for local services.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1947" y="4879512"/>
            <a:ext cx="13644984" cy="90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688" indent="-238344" lvl="1">
              <a:lnSpc>
                <a:spcPts val="3841"/>
              </a:lnSpc>
              <a:buFont typeface="Arial"/>
              <a:buChar char="•"/>
            </a:pPr>
            <a:r>
              <a:rPr lang="en-US" b="true" sz="220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v2.0 (Next 6 Months) :</a:t>
            </a:r>
          </a:p>
          <a:p>
            <a:pPr algn="l">
              <a:lnSpc>
                <a:spcPts val="3667"/>
              </a:lnSpc>
            </a:pP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      Expand to E-commerce (Daraz, Pickaboo) and implement our affiliate revenue model.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91947" y="6036448"/>
            <a:ext cx="13644984" cy="909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6688" indent="-238344" lvl="1">
              <a:lnSpc>
                <a:spcPts val="3841"/>
              </a:lnSpc>
              <a:buFont typeface="Arial"/>
              <a:buChar char="•"/>
            </a:pPr>
            <a:r>
              <a:rPr lang="en-US" b="true" sz="2207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v3.0 (Next 12 Months) :</a:t>
            </a:r>
          </a:p>
          <a:p>
            <a:pPr algn="l">
              <a:lnSpc>
                <a:spcPts val="3667"/>
              </a:lnSpc>
            </a:pPr>
            <a:r>
              <a:rPr lang="en-US" sz="2107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       </a:t>
            </a: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Develop a mobile app and launch premium listings for businesses.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91947" y="7260058"/>
            <a:ext cx="13644984" cy="4825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89"/>
              </a:lnSpc>
            </a:pPr>
            <a:r>
              <a:rPr lang="en-US" sz="2407" b="true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Our Ask 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91947" y="7923599"/>
            <a:ext cx="15967353" cy="874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We are seeking mentorship from</a:t>
            </a:r>
            <a:r>
              <a:rPr lang="en-US" sz="2107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industry experts to help us refine our web scraping technology and scale our platform to handle nationwide traffic.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-585133" y="8898973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-292567" y="9253538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" id="5"/>
          <p:cNvSpPr/>
          <p:nvPr/>
        </p:nvSpPr>
        <p:spPr>
          <a:xfrm flipH="false" flipV="false" rot="0">
            <a:off x="7316891" y="4422130"/>
            <a:ext cx="3654217" cy="3654217"/>
          </a:xfrm>
          <a:custGeom>
            <a:avLst/>
            <a:gdLst/>
            <a:ahLst/>
            <a:cxnLst/>
            <a:rect r="r" b="b" t="t" l="l"/>
            <a:pathLst>
              <a:path h="3654217" w="3654217">
                <a:moveTo>
                  <a:pt x="0" y="0"/>
                </a:moveTo>
                <a:lnTo>
                  <a:pt x="3654218" y="0"/>
                </a:lnTo>
                <a:lnTo>
                  <a:pt x="3654218" y="3654217"/>
                </a:lnTo>
                <a:lnTo>
                  <a:pt x="0" y="365421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057812" y="1610816"/>
            <a:ext cx="4172376" cy="713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8"/>
              </a:lnSpc>
            </a:pPr>
            <a:r>
              <a:rPr lang="en-US" sz="6408" spc="-506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 you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938218" y="981075"/>
            <a:ext cx="432108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939"/>
              </a:lnSpc>
            </a:pPr>
            <a:r>
              <a:rPr lang="en-US" b="true" sz="2099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12/12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438992" y="3238506"/>
            <a:ext cx="1141001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 i="tru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GitHub Repo:: git</a:t>
            </a:r>
            <a:r>
              <a:rPr lang="en-US" sz="2099" i="true" u="none">
                <a:solidFill>
                  <a:srgbClr val="000000"/>
                </a:solidFill>
                <a:latin typeface="Garet Italics"/>
                <a:ea typeface="Garet Italics"/>
                <a:cs typeface="Garet Italics"/>
                <a:sym typeface="Garet Italics"/>
              </a:rPr>
              <a:t>hub.com/hijbullahx/SynthAI-Squad_AutomaticPriceComparison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DAG4ADBbkwU</dc:identifier>
  <dcterms:modified xsi:type="dcterms:W3CDTF">2011-08-01T06:04:30Z</dcterms:modified>
  <cp:revision>1</cp:revision>
  <dc:title>Beige and Black Minimalist Project Deck Presentation</dc:title>
</cp:coreProperties>
</file>